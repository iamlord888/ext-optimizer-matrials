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harts/chart101.xml" ContentType="application/vnd.openxmlformats-officedocument.drawingml.chart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docProps/core.xml" Id="R2535d85d5ac542ab"/><Relationship Type="http://schemas.openxmlformats.org/officeDocument/2006/relationships/extended-properties" Target="docProps/app.xml" Id="Rf60f0e2d091d4cd5"/><Relationship Type="http://schemas.openxmlformats.org/officeDocument/2006/relationships/officeDocument" Target="ppt/presentation.xml" Id="Re80f93045cc946f0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6e3d15b5454347"/>
  </p:sldMasterIdLst>
  <p:notesMasterIdLst>
    <p:notesMasterId xmlns:r="http://schemas.openxmlformats.org/officeDocument/2006/relationships" r:id="Rfa56741159044163"/>
  </p:notesMasterIdLst>
  <p:sldIdLst>
    <p:sldId xmlns:r="http://schemas.openxmlformats.org/officeDocument/2006/relationships" id="256" r:id="R763e7e0ad6b646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theme/theme1.xml" Id="R78c1a88541e34183"/><Relationship Type="http://schemas.openxmlformats.org/officeDocument/2006/relationships/slideMaster" Target="slideMasters/slideMaster1.xml" Id="R056e3d15b5454347"/><Relationship Type="http://schemas.openxmlformats.org/officeDocument/2006/relationships/notesMaster" Target="notesMasters/notesMaster1.xml" Id="Rfa56741159044163"/><Relationship Type="http://schemas.openxmlformats.org/officeDocument/2006/relationships/presProps" Target="presProps.xml" Id="R95fadc4e7d68442d"/><Relationship Type="http://schemas.openxmlformats.org/officeDocument/2006/relationships/tableStyles" Target="tableStyles.xml" Id="Rc715c61d3cbf4ec9"/><Relationship Type="http://schemas.openxmlformats.org/officeDocument/2006/relationships/slide" Target="slides/slide1.xml" Id="R763e7e0ad6b64653"/>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822368421053"/>
          <c:y val="0.0677966101695"/>
          <c:w val="0.894736842105"/>
          <c:h val="0.79661016949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不设单轮超时</c:v>
                </c:pt>
              </c:strCache>
            </c:strRef>
          </c:tx>
          <c:spPr>
            <a:solidFill>
              <a:srgbClr val="98A4AC"/>
            </a:solidFill>
            <a:ln>
              <a:solidFill>
                <a:srgbClr val="98A4AC"/>
              </a:solidFill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JOB（113条）</c:v>
                </c:pt>
                <c:pt idx="1">
                  <c:v>JOB-complex（30条）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2348</c:v>
                </c:pt>
                <c:pt idx="1">
                  <c:v>1002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单轮10秒部分反馈</c:v>
                </c:pt>
              </c:strCache>
            </c:strRef>
          </c:tx>
          <c:spPr>
            <a:solidFill>
              <a:srgbClr val="2C5C84"/>
            </a:solidFill>
            <a:ln>
              <a:solidFill>
                <a:srgbClr val="2C5C84"/>
              </a:solidFill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JOB（113条）</c:v>
                </c:pt>
                <c:pt idx="1">
                  <c:v>JOB-complex（30条）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1599</c:v>
                </c:pt>
                <c:pt idx="1">
                  <c:v>583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zh-CN" sz="1280" b="1">
                  <a:solidFill>
                    <a:srgbClr val="24313A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-1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112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2500"/>
          <c:min val="0"/>
        </c:scaling>
        <c:delete val="0"/>
        <c:axPos val="l"/>
        <c:majorGridlines>
          <c:spPr>
            <a:ln w="6350" cap="flat" cmpd="sng" algn="ctr">
              <a:solidFill>
                <a:srgbClr val="D5DDE2"/>
              </a:solidFill>
              <a:round/>
            </a:ln>
          </c:spPr>
        </c:majorGridlines>
        <c:numFmt formatCode="#,##0" sourceLinked="0"/>
        <c:majorTickMark val="none"/>
        <c:minorTickMark val="none"/>
        <c:tickLblPos val="nextTo"/>
        <c:spPr>
          <a:ln w="9525" cap="flat" cmpd="sng" algn="ctr">
            <a:solidFill>
              <a:srgbClr val="63717B"/>
            </a:solidFill>
            <a:round/>
          </a:ln>
        </c:spPr>
        <c:txPr>
          <a:bodyPr/>
          <a:lstStyle/>
          <a:p>
            <a:pPr>
              <a:defRPr lang="zh-CN" sz="105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00"/>
      </c:valAx>
      <c:spPr>
        <a:solidFill>
          <a:srgbClr val="FFFFFF"/>
        </a:solidFill>
        <a:ln>
          <a:noFill/>
        </a:ln>
      </c:spPr>
    </c:plotArea>
    <c:plotVisOnly val="1"/>
    <c:dispBlanksAs val="gap"/>
  </c:chart>
  <c:spPr>
    <a:solidFill>
      <a:srgbClr val="FFFFFF"/>
    </a:solidFill>
    <a:ln>
      <a:noFill/>
    </a:ln>
  </c:spPr>
  <c:txPr>
    <a:bodyPr/>
    <a:lstStyle/>
    <a:p>
      <a:pPr>
        <a:defRPr lang="zh-CN" sz="900">
          <a:solidFill>
            <a:srgbClr val="24313A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theme/theme3.xml" Id="R793d7be82367444a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../slides/slide1.xml" Id="R743669c80a714a8e"/><Relationship Type="http://schemas.openxmlformats.org/officeDocument/2006/relationships/notesMaster" Target="../notesMasters/notesMaster1.xml" Id="Re0a8b81ea2164663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32ce7adeed0d4df6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76a284219fd749b8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bf6b383375864977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748c5a6d677b4467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db2f05b3a54e4b02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9a9393f4d46d49e3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2C5173-4D73-422D-A57D-4760F7B63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6176E4F-C42F-4F57-94E6-8E7FFF1D7B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B4C4A3E-759C-4F28-8BFC-0FE6046D45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5AE7F5-351A-4D61-BFBF-ABE7866B6A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EE90CC3-7211-443F-A3C0-2F0290503C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6D0522-F8FA-42EB-BEE9-7DEF9F3D95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6C4746-830E-4A14-B1AB-4DC2672CD4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41B2FD-4699-4B87-9169-FF87A44C6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C909EB-FF75-438E-BF1E-9CB51F96D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954EBA-136F-449B-8EE3-1AD0C82F8F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theme/theme2.xml" Id="R297f995c65064b4d"/><Relationship Type="http://schemas.openxmlformats.org/officeDocument/2006/relationships/slideLayout" Target="../slideLayouts/slideLayout1.xml" Id="R2218f91d568f4182"/><Relationship Type="http://schemas.openxmlformats.org/officeDocument/2006/relationships/slideLayout" Target="../slideLayouts/slideLayout2.xml" Id="Rc39480bcefa8414c"/><Relationship Type="http://schemas.openxmlformats.org/officeDocument/2006/relationships/slideLayout" Target="../slideLayouts/slideLayout3.xml" Id="Re0c801ffac9f42e5"/><Relationship Type="http://schemas.openxmlformats.org/officeDocument/2006/relationships/slideLayout" Target="../slideLayouts/slideLayout4.xml" Id="R0039c404b1784b1c"/><Relationship Type="http://schemas.openxmlformats.org/officeDocument/2006/relationships/slideLayout" Target="../slideLayouts/slideLayout5.xml" Id="R20df6f0ed60a429c"/><Relationship Type="http://schemas.openxmlformats.org/officeDocument/2006/relationships/slideLayout" Target="../slideLayouts/slideLayout6.xml" Id="R45e06e87a72c4e1a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18f91d568f4182"/>
    <p:sldLayoutId xmlns:r="http://schemas.openxmlformats.org/officeDocument/2006/relationships" id="2147483650" r:id="Rc39480bcefa8414c"/>
    <p:sldLayoutId xmlns:r="http://schemas.openxmlformats.org/officeDocument/2006/relationships" id="2147483651" r:id="Re0c801ffac9f42e5"/>
    <p:sldLayoutId xmlns:r="http://schemas.openxmlformats.org/officeDocument/2006/relationships" id="2147483652" r:id="R0039c404b1784b1c"/>
    <p:sldLayoutId xmlns:r="http://schemas.openxmlformats.org/officeDocument/2006/relationships" id="2147483653" r:id="R20df6f0ed60a429c"/>
    <p:sldLayoutId xmlns:r="http://schemas.openxmlformats.org/officeDocument/2006/relationships" id="2147483654" r:id="R45e06e87a72c4e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6.xml" Id="R8ebd69e720034d1d" /><Relationship Type="http://schemas.openxmlformats.org/officeDocument/2006/relationships/notesSlide" Target="../notesSlides/notesSlide1.xml" Id="R0709bfec0eef49fb" /><Relationship Id="rId2" Type="http://schemas.openxmlformats.org/officeDocument/2006/relationships/chart" Target="../charts/chart101.xml" />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6" name="title"/>
          <p:cNvSpPr/>
          <p:nvPr/>
        </p:nvSpPr>
        <p:spPr>
          <a:xfrm>
            <a:off x="3200400" y="1828800"/>
            <a:ext cx="5791200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30004" rIns="0" bIns="0" anchor="t" anchorCtr="0">
            <a:noAutofit/>
          </a:bodyPr>
          <a:lstStyle/>
          <a:p>
            <a:pPr algn="l"/>
            <a:r>
              <a:rPr lang="zh-CN" sz="1580" b="1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调优总时长对比（秒）</a:t>
            </a:r>
          </a:p>
        </p:txBody>
      </p:sp>
      <p:sp>
        <p:nvSpPr>
          <p:cNvPr id="2" name="legend1"/>
          <p:cNvSpPr/>
          <p:nvPr/>
        </p:nvSpPr>
        <p:spPr>
          <a:xfrm>
            <a:off x="3390900" y="2143125"/>
            <a:ext cx="2133600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21431" rIns="0" bIns="0" anchor="t" anchorCtr="0">
            <a:noAutofit/>
          </a:bodyPr>
          <a:lstStyle/>
          <a:p>
            <a:pPr algn="l"/>
            <a:r>
              <a:rPr lang="zh-CN" sz="1120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不设单轮超时</a:t>
            </a:r>
          </a:p>
        </p:txBody>
      </p:sp>
      <p:sp>
        <p:nvSpPr>
          <p:cNvPr id="3" name="legend2"/>
          <p:cNvSpPr/>
          <p:nvPr/>
        </p:nvSpPr>
        <p:spPr>
          <a:xfrm>
            <a:off x="6153150" y="2143125"/>
            <a:ext cx="2838450" cy="219075"/>
          </a:xfrm>
          <a:prstGeom prst="rect">
            <a:avLst/>
          </a:prstGeom>
          <a:noFill/>
          <a:ln>
            <a:noFill/>
          </a:ln>
        </p:spPr>
        <p:txBody>
          <a:bodyPr wrap="none" lIns="0" tIns="21431" rIns="0" bIns="0" anchor="t" anchorCtr="0">
            <a:noAutofit/>
          </a:bodyPr>
          <a:lstStyle/>
          <a:p>
            <a:pPr algn="l"/>
            <a:r>
              <a:rPr lang="zh-CN" sz="1120" dirty="0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单轮10秒部分反馈</a:t>
            </a:r>
          </a:p>
        </p:txBody>
      </p:sp>
      <p:graphicFrame>
        <p:nvGraphicFramePr>
          <p:cNvPr id="10" name="figure-8-4-comparison"/>
          <p:cNvGraphicFramePr>
            <a:graphicFrameLocks noGrp="1"/>
          </p:cNvGraphicFramePr>
          <p:nvPr/>
        </p:nvGraphicFramePr>
        <p:xfrm>
          <a:off x="3200400" y="2400300"/>
          <a:ext cx="5791200" cy="22479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5" name="footnote"/>
          <p:cNvSpPr/>
          <p:nvPr/>
        </p:nvSpPr>
        <p:spPr>
          <a:xfrm>
            <a:off x="3200400" y="4724400"/>
            <a:ext cx="5791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19288" rIns="0" bIns="0" anchor="t" anchorCtr="0">
            <a:noAutofit/>
          </a:bodyPr>
          <a:lstStyle/>
          <a:p>
            <a:pPr algn="l">
              <a:lnSpc>
                <a:spcPts val="1468"/>
              </a:lnSpc>
            </a:pPr>
            <a:r>
              <a:rPr lang="zh-CN" sz="1010" dirty="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rPr>
              <a:t>每条SQL的全局搜索预算为300秒，patience-iters=5；</a:t>
            </a:r>
            <a:br/>
            <a:r>
              <a:rPr lang="zh-CN" sz="1010" dirty="0">
                <a:solidFill>
                  <a:srgbClr val="63717B"/>
                </a:solidFill>
                <a:latin typeface="Microsoft YaHei"/>
                <a:ea typeface="Microsoft YaHei"/>
                <a:cs typeface="Microsoft YaHei"/>
              </a:rPr>
              <a:t>两组使用不同代码版本。</a:t>
            </a:r>
          </a:p>
        </p:txBody>
      </p:sp>
      <p:grpSp>
        <p:nvGrpSpPr>
          <p:cNvPr id="13" name="legend-no-timeout"/>
          <p:cNvGrpSpPr/>
          <p:nvPr/>
        </p:nvGrpSpPr>
        <p:grpSpPr>
          <a:xfrm>
            <a:off x="3200400" y="2190750"/>
            <a:ext cx="114300" cy="114300"/>
            <a:chOff x="3200400" y="2190750"/>
            <a:chExt cx="114300" cy="114300"/>
          </a:xfrm>
        </p:grpSpPr>
        <p:sp>
          <p:nvSpPr>
            <p:cNvPr id="12" name="Rectangle 12"/>
            <p:cNvSpPr/>
            <p:nvPr/>
          </p:nvSpPr>
          <p:spPr>
            <a:xfrm>
              <a:off x="3200400" y="2190750"/>
              <a:ext cx="114300" cy="114300"/>
            </a:xfrm>
            <a:prstGeom prst="rect">
              <a:avLst/>
            </a:prstGeom>
            <a:solidFill>
              <a:srgbClr val="98A4AC"/>
            </a:solidFill>
            <a:ln>
              <a:noFill/>
            </a:ln>
          </p:spPr>
        </p:sp>
      </p:grpSp>
      <p:grpSp>
        <p:nvGrpSpPr>
          <p:cNvPr id="15" name="legend-partial"/>
          <p:cNvGrpSpPr/>
          <p:nvPr/>
        </p:nvGrpSpPr>
        <p:grpSpPr>
          <a:xfrm>
            <a:off x="5962650" y="2190750"/>
            <a:ext cx="114300" cy="114300"/>
            <a:chOff x="5962650" y="2190750"/>
            <a:chExt cx="114300" cy="114300"/>
          </a:xfrm>
        </p:grpSpPr>
        <p:sp>
          <p:nvSpPr>
            <p:cNvPr id="14" name="Rectangle 14"/>
            <p:cNvSpPr/>
            <p:nvPr/>
          </p:nvSpPr>
          <p:spPr>
            <a:xfrm>
              <a:off x="5962650" y="2190750"/>
              <a:ext cx="114300" cy="114300"/>
            </a:xfrm>
            <a:prstGeom prst="rect">
              <a:avLst/>
            </a:prstGeom>
            <a:solidFill>
              <a:srgbClr val="2C5C84"/>
            </a:solidFill>
            <a:ln>
              <a:noFill/>
            </a:ln>
          </p:spPr>
        </p:sp>
      </p:grpSp>
      <p:sp>
        <p:nvSpPr>
          <p:cNvPr id="16" name="quarter-page-fit-frame"/>
          <p:cNvSpPr/>
          <p:nvPr/>
        </p:nvSpPr>
        <p:spPr>
          <a:xfrm>
            <a:off x="3048000" y="1714500"/>
            <a:ext cx="6096000" cy="3429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</p:sp>
    </p:spTree>
    <p:extLst>
      <p:ext uri="{BB962C8B-B14F-4D97-AF65-F5344CB8AC3E}">
        <p14:creationId val="9925971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2026-10-10T03:11:02.9470000Z</dcterms:created>
  <dcterms:modified xsi:type="dcterms:W3CDTF">2026-10-10T03:11:02.9470000Z</dcterms:modified>
</coreProperties>
</file>